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63E44-FF77-C419-5E3C-DAE06FDDE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BE4485-DBDC-A991-C5B5-E456AE65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83A26-444B-1CB6-D8CB-C962F2CF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0BD099-C1BA-7CC7-20C4-BDC7B6A2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421C1-5E93-468E-68D5-9DDB34AC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52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FE339-BF02-12F7-7FCE-56565553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B4473-717F-5252-A90B-CFF3716FF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C787E2-56D6-9B50-5E56-9713DC27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A1C84C-C034-7372-CF82-0F45A724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668878-5116-86C9-0480-132BCB06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4BC07-13C9-32C4-2271-39A785F57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ED0864-8857-6771-AA75-5194248D8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B7B045-9B31-4B61-8CA7-BD809FC3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235D62-3FFA-C025-99D5-869FAF1B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1F40D3-98E5-C8CC-19E0-D542A508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16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AC47E-4837-32B7-3DB6-3F408095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2144C7-0C65-E318-C8DA-298B75754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8EAE28-5A12-5221-7896-7C58F732A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62E415-FAB2-CE2A-DCFC-D5108DDE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92A895-384A-A1EA-5C2C-0C216321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A0EEE7-E878-B93D-3592-6A315229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40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F720E-0583-3129-B659-2AF89787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5165D0-5182-DC63-06B7-4CB1705B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C04876-D59C-C089-8856-55DC5A21A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15BE3B-FF2A-5C04-A32D-3007B639D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095B50-FB4A-9CF0-AB66-BCF058F20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287561C-58A2-6810-33A6-462F7F47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374F8C-2298-5336-09AA-236A19D8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095DB3-8C31-88AE-3983-00B067BB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73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D2166-0B84-6F35-CCF6-DB36194F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C2A82C-94F9-5F18-371D-108F095A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922C52-4473-2983-B1EC-B0B86A53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08ABBA-B122-31C4-F818-6182C8D0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58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36FABE-7F23-05F6-29C7-7AE61D5B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7D8ACB-872C-899F-1D94-C850AF44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BECE8-7288-F170-599A-9954E2EA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87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5DF76-6F33-1ECD-0E28-A9FF691D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9D933-2178-EA00-E0B1-F930E046C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56B102-4BB6-2BB4-06C3-EDE4FFDB6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AB1C68-FABC-EA2C-4334-E23476EE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092B03-6250-D3C6-6579-3BC887D5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48AFE7-87C6-36F0-CFDF-E0A6AB6D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2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2A0B2-F52D-3E69-CD3D-9BDA6700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B982FF-539D-8A29-D664-72579E8D6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EF480E-30F6-EC6E-0E1C-430081E17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3C8358-E4A9-73D1-4172-6EC6556C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2F2106-960F-C8D5-E503-E39A0893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4916DD-06ED-4F9A-1A72-55685104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79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51C76-1237-F822-2127-4576A221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C59DE7-8C34-FC62-6E62-7000DF63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73206-CB8C-DA33-6F39-89C9758F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6D8E58-212B-DC23-C1A7-2FCAE286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7093BC-74B9-C136-49CF-AE9A4FBD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92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9966A9-73E4-994D-39D1-64DB7FCDD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B7A53F-5014-F336-3685-EB78922AC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DF4C6C-8031-056B-05BD-0CFB1677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A7894-8A44-2867-5658-95A662FC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FC989-7EB1-A915-E7AA-6D25BCE0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39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3358CF-B98C-D87E-AFE2-BBF15AAA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4D6B15-0073-3D58-79E2-3FE15F087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487B0-6277-9D57-B203-AA6069E1B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535F1-53A8-4068-A3B6-8E8F1A97F0F2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447431-ACDF-A01A-502B-33F78FF35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86B73-6894-A425-2D49-9D2705E5D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2F51D-A772-402A-A65B-C4D3F5C2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9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46E2-F13B-AE26-B0B4-5E9762B5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B088726-5F95-9F25-F8AC-4C60A0D2CABA}"/>
              </a:ext>
            </a:extLst>
          </p:cNvPr>
          <p:cNvGrpSpPr/>
          <p:nvPr/>
        </p:nvGrpSpPr>
        <p:grpSpPr>
          <a:xfrm>
            <a:off x="731519" y="1813096"/>
            <a:ext cx="7149715" cy="698267"/>
            <a:chOff x="731519" y="1813096"/>
            <a:chExt cx="7149715" cy="69826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8FC0FA-E429-B968-5D08-0DE102A023E6}"/>
                </a:ext>
              </a:extLst>
            </p:cNvPr>
            <p:cNvSpPr txBox="1"/>
            <p:nvPr/>
          </p:nvSpPr>
          <p:spPr>
            <a:xfrm>
              <a:off x="731520" y="1813096"/>
              <a:ext cx="7149714" cy="61555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400" b="1">
                  <a:solidFill>
                    <a:srgbClr val="192A56"/>
                  </a:solidFill>
                </a:defRPr>
              </a:pPr>
              <a:r>
                <a:rPr lang="en-US" altLang="ko-KR" dirty="0"/>
                <a:t>GPSI </a:t>
              </a:r>
              <a:r>
                <a:rPr lang="ko-KR" altLang="en-US" dirty="0"/>
                <a:t>데이터 </a:t>
              </a:r>
              <a:r>
                <a:rPr lang="ko-KR" altLang="en-US" dirty="0" err="1"/>
                <a:t>미전송</a:t>
              </a:r>
              <a:r>
                <a:rPr lang="ko-KR" altLang="en-US" dirty="0"/>
                <a:t> 시 전송 매뉴얼</a:t>
              </a:r>
              <a:endParaRPr lang="en-US" dirty="0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8B09A58-2105-C662-62CB-8D7D79CEDED5}"/>
                </a:ext>
              </a:extLst>
            </p:cNvPr>
            <p:cNvSpPr/>
            <p:nvPr/>
          </p:nvSpPr>
          <p:spPr>
            <a:xfrm>
              <a:off x="731519" y="2463801"/>
              <a:ext cx="7149714" cy="47562"/>
            </a:xfrm>
            <a:prstGeom prst="rect">
              <a:avLst/>
            </a:prstGeom>
            <a:solidFill>
              <a:srgbClr val="3478F6"/>
            </a:solidFill>
            <a:ln>
              <a:solidFill>
                <a:srgbClr val="3478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DF5C462-34E0-132D-DF82-3C76E047D27F}"/>
              </a:ext>
            </a:extLst>
          </p:cNvPr>
          <p:cNvSpPr txBox="1"/>
          <p:nvPr/>
        </p:nvSpPr>
        <p:spPr>
          <a:xfrm>
            <a:off x="731520" y="5212080"/>
            <a:ext cx="2208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 dirty="0"/>
              <a:t>DX팀</a:t>
            </a:r>
            <a:br>
              <a:rPr dirty="0"/>
            </a:br>
            <a:r>
              <a:rPr dirty="0"/>
              <a:t>2026.0</a:t>
            </a:r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166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2627-16FF-ACAA-03FB-F247CA5C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E56227-FA06-E140-B3A5-8A022582024D}"/>
              </a:ext>
            </a:extLst>
          </p:cNvPr>
          <p:cNvSpPr txBox="1"/>
          <p:nvPr/>
        </p:nvSpPr>
        <p:spPr>
          <a:xfrm>
            <a:off x="221672" y="194025"/>
            <a:ext cx="7007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solidFill>
                  <a:srgbClr val="0D1B3E"/>
                </a:solidFill>
                <a:latin typeface="+mn-ea"/>
              </a:rPr>
              <a:t>GPSI 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데이터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미전송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시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니테라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측 전송 방식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C8AAF25-BDE0-BAE3-9B77-C0CAB3A3668F}"/>
              </a:ext>
            </a:extLst>
          </p:cNvPr>
          <p:cNvCxnSpPr/>
          <p:nvPr/>
        </p:nvCxnSpPr>
        <p:spPr>
          <a:xfrm>
            <a:off x="292584" y="711203"/>
            <a:ext cx="116068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F1741E8-2141-97B3-3572-B6494EEB6ACF}"/>
              </a:ext>
            </a:extLst>
          </p:cNvPr>
          <p:cNvGrpSpPr/>
          <p:nvPr/>
        </p:nvGrpSpPr>
        <p:grpSpPr>
          <a:xfrm>
            <a:off x="5486656" y="990602"/>
            <a:ext cx="6277145" cy="4852406"/>
            <a:chOff x="5486656" y="990602"/>
            <a:chExt cx="6277145" cy="4852406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6B025846-1F66-9BFB-BAB1-A930A3655112}"/>
                </a:ext>
              </a:extLst>
            </p:cNvPr>
            <p:cNvGrpSpPr/>
            <p:nvPr/>
          </p:nvGrpSpPr>
          <p:grpSpPr>
            <a:xfrm>
              <a:off x="5486656" y="990602"/>
              <a:ext cx="6277145" cy="4852406"/>
              <a:chOff x="5486656" y="990602"/>
              <a:chExt cx="6277145" cy="4852406"/>
            </a:xfrm>
          </p:grpSpPr>
          <p:pic>
            <p:nvPicPr>
              <p:cNvPr id="56" name="그림 55">
                <a:extLst>
                  <a:ext uri="{FF2B5EF4-FFF2-40B4-BE49-F238E27FC236}">
                    <a16:creationId xmlns:a16="http://schemas.microsoft.com/office/drawing/2014/main" id="{3E8F6F00-6EAA-1808-4B0B-359F3BCE92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90419" y="1014992"/>
                <a:ext cx="3173382" cy="4828016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F2F6C7D-D935-EA1E-5D21-6E710C433026}"/>
                  </a:ext>
                </a:extLst>
              </p:cNvPr>
              <p:cNvSpPr txBox="1"/>
              <p:nvPr/>
            </p:nvSpPr>
            <p:spPr>
              <a:xfrm>
                <a:off x="6097871" y="990602"/>
                <a:ext cx="2499739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rgbClr val="0D1B3E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</a:t>
                </a:r>
                <a:r>
                  <a:rPr lang="en-US" altLang="ko-KR" b="1" dirty="0">
                    <a:solidFill>
                      <a:srgbClr val="0D1B3E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SIX 0 – G </a:t>
                </a:r>
                <a:r>
                  <a:rPr lang="ko-KR" altLang="en-US" b="1" dirty="0">
                    <a:solidFill>
                      <a:srgbClr val="0D1B3E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파일 생성</a:t>
                </a:r>
                <a:endParaRPr lang="ko-KR" altLang="ko-KR" sz="3600" b="1" dirty="0">
                  <a:solidFill>
                    <a:srgbClr val="0D1B3E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050" dirty="0">
                    <a:solidFill>
                      <a:srgbClr val="8090A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각 버튼을 클릭하여 생성 가능</a:t>
                </a:r>
                <a:endParaRPr lang="en-US" altLang="ko-KR" sz="105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050" dirty="0">
                    <a:solidFill>
                      <a:srgbClr val="8090A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PSIX9 </a:t>
                </a:r>
                <a:r>
                  <a:rPr lang="ko-KR" altLang="en-US" sz="1050" dirty="0">
                    <a:solidFill>
                      <a:srgbClr val="8090A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파일 제외</a:t>
                </a:r>
                <a:endParaRPr lang="en-US" altLang="ko-KR" sz="1050" dirty="0">
                  <a:solidFill>
                    <a:srgbClr val="8090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0C546089-B54D-2FE9-7EE0-68E351FEED01}"/>
                  </a:ext>
                </a:extLst>
              </p:cNvPr>
              <p:cNvSpPr/>
              <p:nvPr/>
            </p:nvSpPr>
            <p:spPr>
              <a:xfrm>
                <a:off x="5486656" y="1111850"/>
                <a:ext cx="450000" cy="450000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rgbClr val="0070C0"/>
                    </a:solidFill>
                  </a:rPr>
                  <a:t>4</a:t>
                </a:r>
                <a:endParaRPr lang="ko-KR" altLang="en-US" sz="1400" b="1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B6160CEC-C441-E560-C11E-F2EA9741AF61}"/>
                  </a:ext>
                </a:extLst>
              </p:cNvPr>
              <p:cNvSpPr/>
              <p:nvPr/>
            </p:nvSpPr>
            <p:spPr>
              <a:xfrm>
                <a:off x="8886825" y="2306330"/>
                <a:ext cx="1685925" cy="274191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D62F41E-4FDD-54C8-0794-F6E860E8A219}"/>
                </a:ext>
              </a:extLst>
            </p:cNvPr>
            <p:cNvSpPr/>
            <p:nvPr/>
          </p:nvSpPr>
          <p:spPr>
            <a:xfrm>
              <a:off x="8886825" y="5451474"/>
              <a:ext cx="1685925" cy="3035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510BB68-3188-892A-4D90-8C33C94F9B13}"/>
              </a:ext>
            </a:extLst>
          </p:cNvPr>
          <p:cNvGrpSpPr/>
          <p:nvPr/>
        </p:nvGrpSpPr>
        <p:grpSpPr>
          <a:xfrm>
            <a:off x="333631" y="1046059"/>
            <a:ext cx="5375300" cy="5454845"/>
            <a:chOff x="333631" y="1046059"/>
            <a:chExt cx="5375300" cy="5454845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0BB7C38D-12DF-B7CD-4DB2-B5678C8631D5}"/>
                </a:ext>
              </a:extLst>
            </p:cNvPr>
            <p:cNvGrpSpPr/>
            <p:nvPr/>
          </p:nvGrpSpPr>
          <p:grpSpPr>
            <a:xfrm>
              <a:off x="333631" y="1046059"/>
              <a:ext cx="5375300" cy="5454845"/>
              <a:chOff x="377932" y="1201571"/>
              <a:chExt cx="5375300" cy="5454845"/>
            </a:xfrm>
          </p:grpSpPr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B5691EB9-7677-3CB2-F576-D57FBF0C4CAA}"/>
                  </a:ext>
                </a:extLst>
              </p:cNvPr>
              <p:cNvGrpSpPr/>
              <p:nvPr/>
            </p:nvGrpSpPr>
            <p:grpSpPr>
              <a:xfrm>
                <a:off x="377932" y="1201571"/>
                <a:ext cx="3802164" cy="588976"/>
                <a:chOff x="377932" y="1201571"/>
                <a:chExt cx="3802164" cy="588976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AD36618-6B28-0B33-27CA-CE0E76FC32A6}"/>
                    </a:ext>
                  </a:extLst>
                </p:cNvPr>
                <p:cNvSpPr txBox="1"/>
                <p:nvPr/>
              </p:nvSpPr>
              <p:spPr>
                <a:xfrm>
                  <a:off x="968918" y="1311393"/>
                  <a:ext cx="249973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ko-KR" sz="1800" b="1" i="0" u="none" strike="noStrike" cap="none" normalizeH="0" baseline="0" dirty="0">
                      <a:ln>
                        <a:noFill/>
                      </a:ln>
                      <a:solidFill>
                        <a:srgbClr val="0D1B3E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WQIS </a:t>
                  </a:r>
                  <a:r>
                    <a:rPr kumimoji="0" lang="ko-KR" altLang="en-US" sz="1800" b="1" i="0" u="none" strike="noStrike" cap="none" normalizeH="0" baseline="0" dirty="0">
                      <a:ln>
                        <a:noFill/>
                      </a:ln>
                      <a:solidFill>
                        <a:srgbClr val="0D1B3E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서버 원격 </a:t>
                  </a:r>
                  <a:r>
                    <a:rPr lang="ko-KR" altLang="en-US" b="1" dirty="0">
                      <a:solidFill>
                        <a:srgbClr val="0D1B3E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접속</a:t>
                  </a:r>
                  <a:endPara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rgbClr val="0D1B3E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EA880510-A298-08E6-6528-84A755482322}"/>
                    </a:ext>
                  </a:extLst>
                </p:cNvPr>
                <p:cNvSpPr/>
                <p:nvPr/>
              </p:nvSpPr>
              <p:spPr>
                <a:xfrm>
                  <a:off x="377932" y="1271059"/>
                  <a:ext cx="450000" cy="450000"/>
                </a:xfrm>
                <a:prstGeom prst="ellips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rgbClr val="0070C0"/>
                      </a:solidFill>
                    </a:rPr>
                    <a:t>1</a:t>
                  </a:r>
                  <a:endParaRPr lang="ko-KR" altLang="en-US" sz="1400" b="1" dirty="0">
                    <a:solidFill>
                      <a:srgbClr val="0070C0"/>
                    </a:solidFill>
                  </a:endParaRPr>
                </a:p>
              </p:txBody>
            </p:sp>
            <p:pic>
              <p:nvPicPr>
                <p:cNvPr id="43" name="Picture 2" descr="RemoteToGo RDP/VNC For Android - Google Play 앱">
                  <a:extLst>
                    <a:ext uri="{FF2B5EF4-FFF2-40B4-BE49-F238E27FC236}">
                      <a16:creationId xmlns:a16="http://schemas.microsoft.com/office/drawing/2014/main" id="{AE92D49C-8E0D-8924-5BB7-29275D9D63E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91120" y="1201571"/>
                  <a:ext cx="588976" cy="5889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5F2959E9-2357-DC1C-2EE9-FF174726CD43}"/>
                  </a:ext>
                </a:extLst>
              </p:cNvPr>
              <p:cNvGrpSpPr/>
              <p:nvPr/>
            </p:nvGrpSpPr>
            <p:grpSpPr>
              <a:xfrm>
                <a:off x="377932" y="2178413"/>
                <a:ext cx="3090725" cy="692497"/>
                <a:chOff x="377932" y="2178413"/>
                <a:chExt cx="3090725" cy="692497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A551BE0-013E-7B98-11FB-C686386C7842}"/>
                    </a:ext>
                  </a:extLst>
                </p:cNvPr>
                <p:cNvSpPr txBox="1"/>
                <p:nvPr/>
              </p:nvSpPr>
              <p:spPr>
                <a:xfrm>
                  <a:off x="968918" y="2178413"/>
                  <a:ext cx="2499739" cy="6924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ko-KR" altLang="en-US" sz="1800" b="1" i="0" u="none" strike="noStrike" cap="none" normalizeH="0" baseline="0" dirty="0">
                      <a:ln>
                        <a:noFill/>
                      </a:ln>
                      <a:solidFill>
                        <a:srgbClr val="0D1B3E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시판사이트 접</a:t>
                  </a:r>
                  <a:r>
                    <a:rPr lang="ko-KR" altLang="en-US" b="1" dirty="0">
                      <a:solidFill>
                        <a:srgbClr val="0D1B3E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속</a:t>
                  </a:r>
                  <a:endPara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rgbClr val="0D1B3E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Chrome </a:t>
                  </a: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혹은 </a:t>
                  </a:r>
                  <a:r>
                    <a:rPr lang="en-US" altLang="ko-KR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Internet Explorer </a:t>
                  </a: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등 접속</a:t>
                  </a:r>
                  <a:endParaRPr lang="en-US" altLang="ko-KR" sz="1050" dirty="0">
                    <a:solidFill>
                      <a:srgbClr val="8090A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→ </a:t>
                  </a:r>
                  <a:r>
                    <a:rPr lang="en-US" altLang="ko-KR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http://192.9.200.110:7080/login</a:t>
                  </a:r>
                  <a:endParaRPr lang="ko-KR" altLang="ko-KR" sz="2800" dirty="0">
                    <a:solidFill>
                      <a:srgbClr val="00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33D7F433-7314-9799-8EAC-30411ACC0E7B}"/>
                    </a:ext>
                  </a:extLst>
                </p:cNvPr>
                <p:cNvSpPr/>
                <p:nvPr/>
              </p:nvSpPr>
              <p:spPr>
                <a:xfrm>
                  <a:off x="377932" y="2299661"/>
                  <a:ext cx="450000" cy="450000"/>
                </a:xfrm>
                <a:prstGeom prst="ellips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rgbClr val="0070C0"/>
                      </a:solidFill>
                    </a:rPr>
                    <a:t>2</a:t>
                  </a:r>
                  <a:endParaRPr lang="ko-KR" altLang="en-US" sz="1400" b="1" dirty="0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8317328E-0274-D4B3-4349-C3A5A7F20D01}"/>
                  </a:ext>
                </a:extLst>
              </p:cNvPr>
              <p:cNvGrpSpPr/>
              <p:nvPr/>
            </p:nvGrpSpPr>
            <p:grpSpPr>
              <a:xfrm>
                <a:off x="377932" y="5810563"/>
                <a:ext cx="5375300" cy="845853"/>
                <a:chOff x="377932" y="5810563"/>
                <a:chExt cx="5375300" cy="845853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FDBD936-AAD6-38EA-249B-55628C201FD9}"/>
                    </a:ext>
                  </a:extLst>
                </p:cNvPr>
                <p:cNvSpPr txBox="1"/>
                <p:nvPr/>
              </p:nvSpPr>
              <p:spPr>
                <a:xfrm>
                  <a:off x="968918" y="5887241"/>
                  <a:ext cx="2499739" cy="6924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b="1" dirty="0">
                      <a:solidFill>
                        <a:srgbClr val="0D1B3E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GPSI</a:t>
                  </a:r>
                  <a:r>
                    <a:rPr kumimoji="0" lang="en-US" altLang="ko-KR" sz="1800" b="1" i="0" u="none" strike="noStrike" cap="none" normalizeH="0" baseline="0" dirty="0">
                      <a:ln>
                        <a:noFill/>
                      </a:ln>
                      <a:solidFill>
                        <a:srgbClr val="0D1B3E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 </a:t>
                  </a:r>
                  <a:r>
                    <a:rPr kumimoji="0" lang="ko-KR" altLang="en-US" sz="1800" b="1" i="0" u="none" strike="noStrike" cap="none" normalizeH="0" baseline="0" dirty="0">
                      <a:ln>
                        <a:noFill/>
                      </a:ln>
                      <a:solidFill>
                        <a:srgbClr val="0D1B3E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계정 로그인</a:t>
                  </a:r>
                  <a:endPara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rgbClr val="0D1B3E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시스템 </a:t>
                  </a:r>
                  <a:r>
                    <a:rPr lang="en-US" altLang="ko-KR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ID </a:t>
                  </a: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관리대장 </a:t>
                  </a:r>
                  <a:r>
                    <a:rPr lang="en-US" altLang="ko-KR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[WEB]</a:t>
                  </a: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 탭 내 </a:t>
                  </a:r>
                  <a:endParaRPr lang="en-US" altLang="ko-KR" sz="1050" dirty="0">
                    <a:solidFill>
                      <a:srgbClr val="8090A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시판사이트 항목 </a:t>
                  </a:r>
                  <a:r>
                    <a:rPr lang="en-US" altLang="ko-KR" sz="1050" dirty="0" err="1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gpsi</a:t>
                  </a:r>
                  <a:r>
                    <a:rPr lang="en-US" altLang="ko-KR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 </a:t>
                  </a:r>
                  <a:r>
                    <a:rPr lang="ko-KR" altLang="en-US" sz="1050" dirty="0">
                      <a:solidFill>
                        <a:srgbClr val="8090A8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계정</a:t>
                  </a:r>
                  <a:endParaRPr lang="ko-KR" altLang="ko-KR" sz="2800" dirty="0">
                    <a:solidFill>
                      <a:srgbClr val="00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pic>
              <p:nvPicPr>
                <p:cNvPr id="47" name="그림 46">
                  <a:extLst>
                    <a:ext uri="{FF2B5EF4-FFF2-40B4-BE49-F238E27FC236}">
                      <a16:creationId xmlns:a16="http://schemas.microsoft.com/office/drawing/2014/main" id="{C7731703-DD58-2A03-B385-3FA80AAC69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39471" y="5810563"/>
                  <a:ext cx="2613761" cy="845853"/>
                </a:xfrm>
                <a:prstGeom prst="rect">
                  <a:avLst/>
                </a:prstGeom>
              </p:spPr>
            </p:pic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13DA1EE1-72B9-512F-C2D0-61207D9E057F}"/>
                    </a:ext>
                  </a:extLst>
                </p:cNvPr>
                <p:cNvSpPr/>
                <p:nvPr/>
              </p:nvSpPr>
              <p:spPr>
                <a:xfrm>
                  <a:off x="377932" y="6008489"/>
                  <a:ext cx="450000" cy="450000"/>
                </a:xfrm>
                <a:prstGeom prst="ellips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rgbClr val="0070C0"/>
                      </a:solidFill>
                    </a:rPr>
                    <a:t>3</a:t>
                  </a:r>
                  <a:endParaRPr lang="ko-KR" altLang="en-US" sz="1400" b="1" dirty="0">
                    <a:solidFill>
                      <a:srgbClr val="0070C0"/>
                    </a:solidFill>
                  </a:endParaRPr>
                </a:p>
              </p:txBody>
            </p:sp>
          </p:grpSp>
        </p:grpSp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5166CEC6-5BFE-8E7E-7696-65ECEE2CA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4617" y="2773604"/>
              <a:ext cx="4141544" cy="25727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879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1A2C-FFA5-5FE5-64B7-EDA043B8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B8BC62-DB4B-FBAE-C427-9E7619BD2334}"/>
              </a:ext>
            </a:extLst>
          </p:cNvPr>
          <p:cNvSpPr txBox="1"/>
          <p:nvPr/>
        </p:nvSpPr>
        <p:spPr>
          <a:xfrm>
            <a:off x="221672" y="194025"/>
            <a:ext cx="7007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solidFill>
                  <a:srgbClr val="0D1B3E"/>
                </a:solidFill>
                <a:latin typeface="+mn-ea"/>
              </a:rPr>
              <a:t>GPSI 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데이터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미전송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시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니테라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측 전송 방식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63367C3-71BA-E688-E982-E0EB2C4CD94C}"/>
              </a:ext>
            </a:extLst>
          </p:cNvPr>
          <p:cNvCxnSpPr/>
          <p:nvPr/>
        </p:nvCxnSpPr>
        <p:spPr>
          <a:xfrm>
            <a:off x="292584" y="711203"/>
            <a:ext cx="116068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34E5893-2546-6291-6925-2D31D5050DD0}"/>
              </a:ext>
            </a:extLst>
          </p:cNvPr>
          <p:cNvSpPr txBox="1"/>
          <p:nvPr/>
        </p:nvSpPr>
        <p:spPr>
          <a:xfrm>
            <a:off x="883570" y="961697"/>
            <a:ext cx="249973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확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rgbClr val="0D1B3E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0D1B3E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D:\PSIXdata\</a:t>
            </a:r>
            <a:r>
              <a:rPr lang="ko-KR" altLang="en-US" sz="1050" dirty="0" err="1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금일자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_z 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폴더</a:t>
            </a:r>
            <a:endParaRPr lang="en-US" altLang="ko-KR" sz="1050" dirty="0">
              <a:solidFill>
                <a:srgbClr val="8090A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(_z: 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스케줄러 데이터와 구분하기 위함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ko-KR" sz="28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E1A3263F-8B85-002D-CF5B-00AB57F8048E}"/>
              </a:ext>
            </a:extLst>
          </p:cNvPr>
          <p:cNvSpPr/>
          <p:nvPr/>
        </p:nvSpPr>
        <p:spPr>
          <a:xfrm>
            <a:off x="292584" y="1082945"/>
            <a:ext cx="450000" cy="45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5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BC5B40FC-1C07-5231-A039-31C82EF9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01"/>
          <a:stretch>
            <a:fillRect/>
          </a:stretch>
        </p:blipFill>
        <p:spPr>
          <a:xfrm>
            <a:off x="883570" y="1701072"/>
            <a:ext cx="5100820" cy="18327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E8A0F-BB5F-B449-30CC-E12DA6A2CCD9}"/>
              </a:ext>
            </a:extLst>
          </p:cNvPr>
          <p:cNvSpPr txBox="1"/>
          <p:nvPr/>
        </p:nvSpPr>
        <p:spPr>
          <a:xfrm>
            <a:off x="883570" y="3973056"/>
            <a:ext cx="322661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rgbClr val="0D1B3E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파일 압축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0D1B3E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(1)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0D1B3E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파일 선택 후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우측 마우스로 클릭</a:t>
            </a:r>
            <a:endParaRPr lang="en-US" altLang="ko-KR" sz="1050" dirty="0">
              <a:solidFill>
                <a:srgbClr val="8090A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[7-Zip]-[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압축파일에 추가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…] 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endParaRPr lang="ko-KR" altLang="ko-KR" sz="28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8FB3B33-4798-1A5C-06F4-42A1C16C3CFC}"/>
              </a:ext>
            </a:extLst>
          </p:cNvPr>
          <p:cNvSpPr/>
          <p:nvPr/>
        </p:nvSpPr>
        <p:spPr>
          <a:xfrm>
            <a:off x="292584" y="4094304"/>
            <a:ext cx="450000" cy="45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6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9663B5-5E09-36C6-D017-EB0DA832317A}"/>
              </a:ext>
            </a:extLst>
          </p:cNvPr>
          <p:cNvSpPr txBox="1"/>
          <p:nvPr/>
        </p:nvSpPr>
        <p:spPr>
          <a:xfrm>
            <a:off x="7254532" y="1528621"/>
            <a:ext cx="4683480" cy="749141"/>
          </a:xfrm>
          <a:prstGeom prst="round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marR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600" b="1" i="0" u="none" strike="noStrike" cap="none" normalizeH="0" baseline="0">
                <a:ln>
                  <a:noFill/>
                </a:ln>
                <a:effectLst/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sz="1400" dirty="0"/>
              <a:t>압축파일명</a:t>
            </a:r>
            <a:r>
              <a:rPr lang="en-US" altLang="ko-KR" sz="1400" dirty="0"/>
              <a:t>: PSIX_A4600_</a:t>
            </a:r>
            <a:r>
              <a:rPr lang="ko-KR" altLang="en-US" sz="1400" dirty="0" err="1">
                <a:solidFill>
                  <a:srgbClr val="C00000"/>
                </a:solidFill>
              </a:rPr>
              <a:t>년월일</a:t>
            </a:r>
            <a:r>
              <a:rPr lang="en-US" altLang="ko-KR" sz="1400" dirty="0">
                <a:solidFill>
                  <a:srgbClr val="C00000"/>
                </a:solidFill>
              </a:rPr>
              <a:t>(</a:t>
            </a:r>
            <a:r>
              <a:rPr lang="ko-KR" altLang="en-US" sz="1400" dirty="0">
                <a:solidFill>
                  <a:srgbClr val="C00000"/>
                </a:solidFill>
              </a:rPr>
              <a:t>금일</a:t>
            </a:r>
            <a:r>
              <a:rPr lang="en-US" altLang="ko-KR" sz="1400" dirty="0">
                <a:solidFill>
                  <a:srgbClr val="C00000"/>
                </a:solidFill>
              </a:rPr>
              <a:t>)</a:t>
            </a:r>
            <a:r>
              <a:rPr lang="en-US" altLang="ko-KR" sz="1400" dirty="0"/>
              <a:t>+</a:t>
            </a:r>
            <a:r>
              <a:rPr lang="en-US" altLang="ko-KR" sz="1400" dirty="0">
                <a:solidFill>
                  <a:srgbClr val="0070C0"/>
                </a:solidFill>
              </a:rPr>
              <a:t>HHmm</a:t>
            </a:r>
            <a:r>
              <a:rPr lang="en-US" altLang="ko-KR" sz="1400" dirty="0"/>
              <a:t>+00.7z</a:t>
            </a:r>
          </a:p>
          <a:p>
            <a:r>
              <a:rPr lang="en-US" altLang="ko-KR" sz="1200" b="0" dirty="0"/>
              <a:t>EX) PSIX_A4600_</a:t>
            </a:r>
            <a:r>
              <a:rPr lang="en-US" altLang="ko-KR" sz="1200" b="0" dirty="0">
                <a:solidFill>
                  <a:srgbClr val="C00000"/>
                </a:solidFill>
              </a:rPr>
              <a:t>20260615</a:t>
            </a:r>
            <a:r>
              <a:rPr lang="en-US" altLang="ko-KR" sz="1200" b="0" dirty="0">
                <a:solidFill>
                  <a:srgbClr val="0070C0"/>
                </a:solidFill>
              </a:rPr>
              <a:t>0750</a:t>
            </a:r>
            <a:r>
              <a:rPr lang="en-US" altLang="ko-KR" sz="1200" b="0" dirty="0"/>
              <a:t>00.7z</a:t>
            </a:r>
          </a:p>
          <a:p>
            <a:r>
              <a:rPr lang="en-US" altLang="ko-KR" sz="1200" b="0" dirty="0"/>
              <a:t>       (26</a:t>
            </a:r>
            <a:r>
              <a:rPr lang="ko-KR" altLang="en-US" sz="1200" b="0" dirty="0"/>
              <a:t>년 </a:t>
            </a:r>
            <a:r>
              <a:rPr lang="en-US" altLang="ko-KR" sz="1200" b="0" dirty="0"/>
              <a:t>6</a:t>
            </a:r>
            <a:r>
              <a:rPr lang="ko-KR" altLang="en-US" sz="1200" b="0" dirty="0"/>
              <a:t>월 </a:t>
            </a:r>
            <a:r>
              <a:rPr lang="en-US" altLang="ko-KR" sz="1200" b="0" dirty="0"/>
              <a:t>15</a:t>
            </a:r>
            <a:r>
              <a:rPr lang="ko-KR" altLang="en-US" sz="1200" b="0" dirty="0"/>
              <a:t>일 </a:t>
            </a:r>
            <a:r>
              <a:rPr lang="en-US" altLang="ko-KR" sz="1200" b="0" dirty="0"/>
              <a:t>7</a:t>
            </a:r>
            <a:r>
              <a:rPr lang="ko-KR" altLang="en-US" sz="1200" b="0" dirty="0"/>
              <a:t>시 </a:t>
            </a:r>
            <a:r>
              <a:rPr lang="en-US" altLang="ko-KR" sz="1200" b="0" dirty="0"/>
              <a:t>50</a:t>
            </a:r>
            <a:r>
              <a:rPr lang="ko-KR" altLang="en-US" sz="1200" b="0" dirty="0"/>
              <a:t>분 기준</a:t>
            </a:r>
            <a:r>
              <a:rPr lang="en-US" altLang="ko-KR" sz="1200" b="0" dirty="0"/>
              <a:t>)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CD11873-6087-DF01-593C-34B2FAE8764F}"/>
              </a:ext>
            </a:extLst>
          </p:cNvPr>
          <p:cNvGrpSpPr/>
          <p:nvPr/>
        </p:nvGrpSpPr>
        <p:grpSpPr>
          <a:xfrm>
            <a:off x="7367546" y="2262910"/>
            <a:ext cx="4457453" cy="4436091"/>
            <a:chOff x="7367546" y="2262910"/>
            <a:chExt cx="4457453" cy="4436091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92632956-2E3D-2B82-51B3-915929EE1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7546" y="2262910"/>
              <a:ext cx="4457453" cy="4436091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F5AB65D-A36B-C177-AD8F-A543AE5E52D7}"/>
                </a:ext>
              </a:extLst>
            </p:cNvPr>
            <p:cNvSpPr/>
            <p:nvPr/>
          </p:nvSpPr>
          <p:spPr>
            <a:xfrm>
              <a:off x="7395445" y="2450966"/>
              <a:ext cx="2219609" cy="393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7A6F159-2C3E-CD8B-B7FB-8155AD5A5D57}"/>
                </a:ext>
              </a:extLst>
            </p:cNvPr>
            <p:cNvSpPr/>
            <p:nvPr/>
          </p:nvSpPr>
          <p:spPr>
            <a:xfrm>
              <a:off x="9460500" y="6379381"/>
              <a:ext cx="786091" cy="254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F3E5477-704E-BA76-616A-9BAA39FD3B00}"/>
              </a:ext>
            </a:extLst>
          </p:cNvPr>
          <p:cNvSpPr txBox="1"/>
          <p:nvPr/>
        </p:nvSpPr>
        <p:spPr>
          <a:xfrm>
            <a:off x="7596275" y="956232"/>
            <a:ext cx="2187496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rgbClr val="0D1B3E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파일 압축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0D1B3E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(2)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0D1B3E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압축파일 명 변경 → 확인</a:t>
            </a:r>
            <a:endParaRPr lang="ko-KR" altLang="ko-KR" sz="28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42F575-B3FD-308D-CEE2-E563F01C2BB7}"/>
              </a:ext>
            </a:extLst>
          </p:cNvPr>
          <p:cNvSpPr/>
          <p:nvPr/>
        </p:nvSpPr>
        <p:spPr>
          <a:xfrm>
            <a:off x="7005288" y="996689"/>
            <a:ext cx="450000" cy="45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7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C23914C-BFC8-77F8-2CF1-62829384B4AE}"/>
              </a:ext>
            </a:extLst>
          </p:cNvPr>
          <p:cNvGrpSpPr/>
          <p:nvPr/>
        </p:nvGrpSpPr>
        <p:grpSpPr>
          <a:xfrm>
            <a:off x="883570" y="4748632"/>
            <a:ext cx="5819834" cy="1850691"/>
            <a:chOff x="883570" y="4776340"/>
            <a:chExt cx="5819834" cy="185069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8095F5A-C893-DC3E-A4D5-61DC05972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3570" y="4776340"/>
              <a:ext cx="5819834" cy="1850691"/>
            </a:xfrm>
            <a:prstGeom prst="rect">
              <a:avLst/>
            </a:prstGeom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6217B21-385B-C682-24B6-AF8DBE722477}"/>
                </a:ext>
              </a:extLst>
            </p:cNvPr>
            <p:cNvSpPr/>
            <p:nvPr/>
          </p:nvSpPr>
          <p:spPr>
            <a:xfrm>
              <a:off x="2674446" y="5325496"/>
              <a:ext cx="4019722" cy="2255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704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96C3-5595-113E-20EC-FDE420BFB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E1A16F-C3E5-54C6-B21C-4F5E3183B86B}"/>
              </a:ext>
            </a:extLst>
          </p:cNvPr>
          <p:cNvSpPr txBox="1"/>
          <p:nvPr/>
        </p:nvSpPr>
        <p:spPr>
          <a:xfrm>
            <a:off x="221672" y="194025"/>
            <a:ext cx="7007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solidFill>
                  <a:srgbClr val="0D1B3E"/>
                </a:solidFill>
                <a:latin typeface="+mn-ea"/>
              </a:rPr>
              <a:t>GPSI 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데이터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미전송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시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니테라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측 전송 방식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D31146-9E6A-1172-C0FC-61DD529A7280}"/>
              </a:ext>
            </a:extLst>
          </p:cNvPr>
          <p:cNvCxnSpPr/>
          <p:nvPr/>
        </p:nvCxnSpPr>
        <p:spPr>
          <a:xfrm>
            <a:off x="292584" y="711203"/>
            <a:ext cx="116068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9E462EE-FF57-04AA-42E9-2BEF4C32CF71}"/>
              </a:ext>
            </a:extLst>
          </p:cNvPr>
          <p:cNvSpPr txBox="1"/>
          <p:nvPr/>
        </p:nvSpPr>
        <p:spPr>
          <a:xfrm>
            <a:off x="883570" y="981864"/>
            <a:ext cx="24997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7z</a:t>
            </a:r>
            <a:r>
              <a:rPr lang="ko-KR" altLang="en-US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rgbClr val="0D1B3E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이동 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0D1B3E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경로 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D:\G-EDItest\SEND</a:t>
            </a:r>
            <a:endParaRPr lang="ko-KR" altLang="ko-KR" sz="28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28E5622B-60FF-A9CB-3C74-F24DDA9ED168}"/>
              </a:ext>
            </a:extLst>
          </p:cNvPr>
          <p:cNvSpPr/>
          <p:nvPr/>
        </p:nvSpPr>
        <p:spPr>
          <a:xfrm>
            <a:off x="292584" y="1022321"/>
            <a:ext cx="450000" cy="45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8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967E88-75B2-095A-1BD9-CD063443629C}"/>
              </a:ext>
            </a:extLst>
          </p:cNvPr>
          <p:cNvSpPr txBox="1"/>
          <p:nvPr/>
        </p:nvSpPr>
        <p:spPr>
          <a:xfrm>
            <a:off x="883569" y="2465381"/>
            <a:ext cx="4233375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작업 스케줄러 </a:t>
            </a:r>
            <a:r>
              <a:rPr lang="en-US" altLang="ko-KR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배치파일 실행 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0D1B3E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작업 스케줄러 라이브러리 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[PSI SFTP 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전송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후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[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ko-KR" sz="28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D17C90C-54CE-70CA-53AE-FDC880BC35D3}"/>
              </a:ext>
            </a:extLst>
          </p:cNvPr>
          <p:cNvSpPr/>
          <p:nvPr/>
        </p:nvSpPr>
        <p:spPr>
          <a:xfrm>
            <a:off x="292584" y="2505838"/>
            <a:ext cx="450000" cy="45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9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23EF03-1C10-6C02-AF4B-5659DD95B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1061760"/>
            <a:ext cx="6305160" cy="11971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4F93AC-D291-1CB0-B63E-12E4A05F3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64" y="3115647"/>
            <a:ext cx="2362530" cy="409632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00A9812-9728-3025-EE51-388A8291C4AE}"/>
              </a:ext>
            </a:extLst>
          </p:cNvPr>
          <p:cNvGrpSpPr/>
          <p:nvPr/>
        </p:nvGrpSpPr>
        <p:grpSpPr>
          <a:xfrm>
            <a:off x="441164" y="3686217"/>
            <a:ext cx="11318784" cy="2788474"/>
            <a:chOff x="441164" y="3787813"/>
            <a:chExt cx="11318784" cy="278847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75F623A-76BC-715A-6C93-F33DEF422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53"/>
            <a:stretch>
              <a:fillRect/>
            </a:stretch>
          </p:blipFill>
          <p:spPr>
            <a:xfrm>
              <a:off x="441164" y="3787813"/>
              <a:ext cx="11318784" cy="2788474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A8C2BF7-EBB8-7DAF-452A-9480E3BF95D3}"/>
                </a:ext>
              </a:extLst>
            </p:cNvPr>
            <p:cNvSpPr/>
            <p:nvPr/>
          </p:nvSpPr>
          <p:spPr>
            <a:xfrm>
              <a:off x="441164" y="4309778"/>
              <a:ext cx="1563127" cy="1564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931D0C2-6D41-3DFC-A9FB-FD0540CFE54B}"/>
                </a:ext>
              </a:extLst>
            </p:cNvPr>
            <p:cNvSpPr/>
            <p:nvPr/>
          </p:nvSpPr>
          <p:spPr>
            <a:xfrm>
              <a:off x="2022131" y="5211162"/>
              <a:ext cx="878088" cy="1828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0F1B0B3-54A1-31B0-9142-DC012B303542}"/>
                </a:ext>
              </a:extLst>
            </p:cNvPr>
            <p:cNvSpPr/>
            <p:nvPr/>
          </p:nvSpPr>
          <p:spPr>
            <a:xfrm>
              <a:off x="10343517" y="6087109"/>
              <a:ext cx="667383" cy="2184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8589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AD7E-4058-7D26-566F-A257B351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07AC3E-F7EF-673D-FA12-EAF5C4F775F7}"/>
              </a:ext>
            </a:extLst>
          </p:cNvPr>
          <p:cNvSpPr txBox="1"/>
          <p:nvPr/>
        </p:nvSpPr>
        <p:spPr>
          <a:xfrm>
            <a:off x="221672" y="194025"/>
            <a:ext cx="7007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solidFill>
                  <a:srgbClr val="0D1B3E"/>
                </a:solidFill>
                <a:latin typeface="+mn-ea"/>
              </a:rPr>
              <a:t>GPSI 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데이터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미전송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시 </a:t>
            </a:r>
            <a:r>
              <a:rPr lang="ko-KR" altLang="en-US" sz="2000" b="1" dirty="0" err="1">
                <a:solidFill>
                  <a:srgbClr val="0D1B3E"/>
                </a:solidFill>
                <a:latin typeface="+mn-ea"/>
              </a:rPr>
              <a:t>니테라</a:t>
            </a:r>
            <a:r>
              <a:rPr lang="ko-KR" altLang="en-US" sz="2000" b="1" dirty="0">
                <a:solidFill>
                  <a:srgbClr val="0D1B3E"/>
                </a:solidFill>
                <a:latin typeface="+mn-ea"/>
              </a:rPr>
              <a:t> 측 전송 방식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AAF9823-06B9-16F5-A60F-E1618BBBCBA8}"/>
              </a:ext>
            </a:extLst>
          </p:cNvPr>
          <p:cNvCxnSpPr/>
          <p:nvPr/>
        </p:nvCxnSpPr>
        <p:spPr>
          <a:xfrm>
            <a:off x="292584" y="711203"/>
            <a:ext cx="116068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4F5A48F-99F0-9068-3742-5188926AB2C9}"/>
              </a:ext>
            </a:extLst>
          </p:cNvPr>
          <p:cNvSpPr txBox="1"/>
          <p:nvPr/>
        </p:nvSpPr>
        <p:spPr>
          <a:xfrm>
            <a:off x="883569" y="981864"/>
            <a:ext cx="667177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백업 폴더 </a:t>
            </a:r>
            <a:r>
              <a:rPr lang="en-US" altLang="ko-KR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전송</a:t>
            </a:r>
            <a:r>
              <a:rPr lang="en-US" altLang="ko-KR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b="1" dirty="0">
                <a:solidFill>
                  <a:srgbClr val="0D1B3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확인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0D1B3E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경로 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D:\G-EDItest\BACKUP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기존 파일이 있던 경로인 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D:\G-EDItest\SEND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에서 해당 파일이 없어지고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백업 폴더에서 파일이 있는지 확인</a:t>
            </a:r>
            <a:r>
              <a:rPr lang="en-US" altLang="ko-KR" sz="1050" dirty="0">
                <a:solidFill>
                  <a:srgbClr val="8090A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D89AEFA-5774-9B19-9848-AE04444E2208}"/>
              </a:ext>
            </a:extLst>
          </p:cNvPr>
          <p:cNvGrpSpPr/>
          <p:nvPr/>
        </p:nvGrpSpPr>
        <p:grpSpPr>
          <a:xfrm>
            <a:off x="292584" y="1022321"/>
            <a:ext cx="450000" cy="450000"/>
            <a:chOff x="292584" y="1022321"/>
            <a:chExt cx="450000" cy="450000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A7F7C635-5E82-5107-AA55-3C3A25A8F30E}"/>
                </a:ext>
              </a:extLst>
            </p:cNvPr>
            <p:cNvSpPr/>
            <p:nvPr/>
          </p:nvSpPr>
          <p:spPr>
            <a:xfrm>
              <a:off x="292584" y="1022321"/>
              <a:ext cx="450000" cy="45000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EFAF3B1-DF7D-68FD-7672-AF2168883740}"/>
                </a:ext>
              </a:extLst>
            </p:cNvPr>
            <p:cNvSpPr txBox="1"/>
            <p:nvPr/>
          </p:nvSpPr>
          <p:spPr>
            <a:xfrm>
              <a:off x="321056" y="1093433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rgbClr val="0070C0"/>
                  </a:solidFill>
                </a:rPr>
                <a:t>10</a:t>
              </a:r>
              <a:endParaRPr lang="ko-KR" altLang="en-US" sz="1400" b="1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3F591780-957B-DDCA-5B81-D2D4E5F5B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22" y="4311924"/>
            <a:ext cx="8460509" cy="219816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17D4FB-B764-886C-4E0B-C4FE461C8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921" y="1889816"/>
            <a:ext cx="8460509" cy="20835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309A1B-3BA0-DA44-D318-C98D52D4529D}"/>
              </a:ext>
            </a:extLst>
          </p:cNvPr>
          <p:cNvSpPr txBox="1"/>
          <p:nvPr/>
        </p:nvSpPr>
        <p:spPr>
          <a:xfrm>
            <a:off x="742584" y="4158035"/>
            <a:ext cx="27801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D:\G-EDItest\BACKUP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A2B636-A76B-64A0-498A-BB8A362BF2AD}"/>
              </a:ext>
            </a:extLst>
          </p:cNvPr>
          <p:cNvSpPr txBox="1"/>
          <p:nvPr/>
        </p:nvSpPr>
        <p:spPr>
          <a:xfrm>
            <a:off x="742584" y="1735928"/>
            <a:ext cx="27801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D:\G-EDItest\SEND</a:t>
            </a:r>
          </a:p>
        </p:txBody>
      </p:sp>
    </p:spTree>
    <p:extLst>
      <p:ext uri="{BB962C8B-B14F-4D97-AF65-F5344CB8AC3E}">
        <p14:creationId xmlns:p14="http://schemas.microsoft.com/office/powerpoint/2010/main" val="131443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255</Words>
  <Application>Microsoft Office PowerPoint</Application>
  <PresentationFormat>와이드스크린</PresentationFormat>
  <Paragraphs>46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DX팀 / 손채원</dc:creator>
  <cp:lastModifiedBy>DX팀 / 손채원</cp:lastModifiedBy>
  <cp:revision>10</cp:revision>
  <dcterms:created xsi:type="dcterms:W3CDTF">2026-06-11T02:26:00Z</dcterms:created>
  <dcterms:modified xsi:type="dcterms:W3CDTF">2026-06-15T06:22:30Z</dcterms:modified>
</cp:coreProperties>
</file>